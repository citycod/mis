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Target</c:v>
                </c:pt>
              </c:strCache>
            </c:strRef>
          </c:tx>
          <c:spPr>
            <a:solidFill>
              <a:srgbClr val="981B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Demo Lagos RO 01</c:v>
                  </c:pt>
                  <c:pt idx="1">
                    <c:v>Demo Lagos RO 02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1200</c:v>
                </c:pt>
                <c:pt idx="1">
                  <c:v>1200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Balance Sheet</c:v>
                </c:pt>
              </c:strCache>
            </c:strRef>
          </c:tx>
          <c:spPr>
            <a:solidFill>
              <a:srgbClr val="D46B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Demo Lagos RO 01</c:v>
                  </c:pt>
                  <c:pt idx="1">
                    <c:v>Demo Lagos RO 02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1981.534</c:v>
                </c:pt>
                <c:pt idx="1">
                  <c:v>1813.32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Interest Income</c:v>
                </c:pt>
              </c:strCache>
            </c:strRef>
          </c:tx>
          <c:spPr>
            <a:solidFill>
              <a:srgbClr val="981B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Demo Lagos RO 01</c:v>
                  </c:pt>
                  <c:pt idx="1">
                    <c:v>Demo Lagos RO 02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110.7408365589041</c:v>
                </c:pt>
                <c:pt idx="1">
                  <c:v>99.30621680219178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Interest Expense</c:v>
                </c:pt>
              </c:strCache>
            </c:strRef>
          </c:tx>
          <c:spPr>
            <a:solidFill>
              <a:srgbClr val="D46B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Demo Lagos RO 01</c:v>
                  </c:pt>
                  <c:pt idx="1">
                    <c:v>Demo Lagos RO 02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80.55903676164384</c:v>
                </c:pt>
                <c:pt idx="1">
                  <c:v>71.43172641643835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Illustrative Result</c:v>
                </c:pt>
              </c:strCache>
            </c:strRef>
          </c:tx>
          <c:spPr>
            <a:solidFill>
              <a:srgbClr val="7176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Demo Lagos RO 01</c:v>
                  </c:pt>
                  <c:pt idx="1">
                    <c:v>Demo Lagos RO 02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16.892899410191784</c:v>
                </c:pt>
                <c:pt idx="1">
                  <c:v>15.957744369490415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981B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Demo Lagos RO 01</c:v>
                  </c:pt>
                  <c:pt idx="1">
                    <c:v>Demo Lagos RO 02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1200</c:v>
                </c:pt>
                <c:pt idx="1">
                  <c:v>1200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Position</c:v>
                </c:pt>
              </c:strCache>
            </c:strRef>
          </c:tx>
          <c:spPr>
            <a:solidFill>
              <a:srgbClr val="D46B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Demo Lagos RO 01</c:v>
                  </c:pt>
                  <c:pt idx="1">
                    <c:v>Demo Lagos RO 02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1981.534</c:v>
                </c:pt>
                <c:pt idx="1">
                  <c:v>1813.32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Position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81B2A"/>
              </a:solidFill>
              <a:effectLst/>
            </c:spPr>
          </c:dPt>
          <c:dPt>
            <c:idx val="1"/>
            <c:bubble3D val="0"/>
            <c:spPr>
              <a:solidFill>
                <a:srgbClr val="B52C38"/>
              </a:solidFill>
              <a:effectLst/>
            </c:spPr>
          </c:dPt>
          <c:dPt>
            <c:idx val="2"/>
            <c:bubble3D val="0"/>
            <c:spPr>
              <a:solidFill>
                <a:srgbClr val="C94C56"/>
              </a:solidFill>
              <a:effectLst/>
            </c:spPr>
          </c:dPt>
          <c:dPt>
            <c:idx val="3"/>
            <c:bubble3D val="0"/>
            <c:spPr>
              <a:solidFill>
                <a:srgbClr val="D97179"/>
              </a:solidFill>
              <a:effectLst/>
            </c:spPr>
          </c:dPt>
          <c:dPt>
            <c:idx val="4"/>
            <c:bubble3D val="0"/>
            <c:spPr>
              <a:solidFill>
                <a:srgbClr val="E69A9F"/>
              </a:solidFill>
              <a:effectLst/>
            </c:spPr>
          </c:dPt>
          <c:dPt>
            <c:idx val="5"/>
            <c:bubble3D val="0"/>
            <c:spPr>
              <a:solidFill>
                <a:srgbClr val="F0C7C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SIRA</c:v>
                </c:pt>
                <c:pt idx="1">
                  <c:v>SESA without TAX</c:v>
                </c:pt>
                <c:pt idx="2">
                  <c:v>SESA with TAX</c:v>
                </c:pt>
                <c:pt idx="3">
                  <c:v>SKIT</c:v>
                </c:pt>
                <c:pt idx="4">
                  <c:v>SKET</c:v>
                </c:pt>
                <c:pt idx="5">
                  <c:v>SHYTA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967800000</c:v>
                </c:pt>
                <c:pt idx="1">
                  <c:v>778442000</c:v>
                </c:pt>
                <c:pt idx="2">
                  <c:v>597750000</c:v>
                </c:pt>
                <c:pt idx="3">
                  <c:v>578120000</c:v>
                </c:pt>
                <c:pt idx="4">
                  <c:v>437125000</c:v>
                </c:pt>
                <c:pt idx="5">
                  <c:v>435617000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inflow</c:v>
                </c:pt>
              </c:strCache>
            </c:strRef>
          </c:tx>
          <c:spPr>
            <a:solidFill>
              <a:srgbClr val="981B2A"/>
            </a:solidFill>
            <a:ln w="31750" cap="flat">
              <a:solidFill>
                <a:srgbClr val="981B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81B2A"/>
              </a:solidFill>
              <a:ln w="9525" cap="flat">
                <a:solidFill>
                  <a:srgbClr val="981B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Sept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224.086</c:v>
                </c:pt>
                <c:pt idx="1">
                  <c:v>282.404</c:v>
                </c:pt>
                <c:pt idx="2">
                  <c:v>262.456</c:v>
                </c:pt>
                <c:pt idx="3">
                  <c:v>245.58</c:v>
                </c:pt>
                <c:pt idx="4">
                  <c:v>483.316</c:v>
                </c:pt>
                <c:pt idx="5">
                  <c:v>454.75</c:v>
                </c:pt>
                <c:pt idx="6">
                  <c:v>273.258</c:v>
                </c:pt>
                <c:pt idx="7">
                  <c:v>230.03</c:v>
                </c:pt>
                <c:pt idx="8">
                  <c:v>216.554</c:v>
                </c:pt>
                <c:pt idx="9">
                  <c:v>96.628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7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MIS_DEM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3796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3796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8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7D1320"/>
          </a:solidFill>
          <a:ln w="12700">
            <a:solidFill>
              <a:srgbClr val="7D132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MIS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9875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spc="80" kern="0" dirty="0">
                <a:solidFill>
                  <a:srgbClr val="F2C8CD"/>
                </a:solidFill>
              </a:rPr>
              <a:t>Monthly Performance Review — Demonstration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Lagos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8E9EB"/>
                </a:solidFill>
              </a:rPr>
              <a:t>Year to date through 10 Oct 2026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4919472"/>
            <a:ext cx="5715000" cy="502920"/>
          </a:xfrm>
          <a:prstGeom prst="roundRect">
            <a:avLst>
              <a:gd name="adj" fmla="val 9091"/>
            </a:avLst>
          </a:prstGeom>
          <a:solidFill>
            <a:srgbClr val="7D1320"/>
          </a:solidFill>
          <a:ln w="12700">
            <a:solidFill>
              <a:srgbClr val="F2C8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093208"/>
            <a:ext cx="53126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spc="20" kern="0" dirty="0">
                <a:solidFill>
                  <a:srgbClr val="FFFFFF"/>
                </a:solidFill>
              </a:rPr>
              <a:t>SYNTHETIC DEMONSTRATION DATA — NOT ACTUAL COMPANY FINANCIAL PERFORMANCE</a:t>
            </a:r>
            <a:endParaRPr lang="en-US" sz="740" dirty="0"/>
          </a:p>
        </p:txBody>
      </p:sp>
      <p:sp>
        <p:nvSpPr>
          <p:cNvPr id="9" name="Text 7"/>
          <p:cNvSpPr/>
          <p:nvPr/>
        </p:nvSpPr>
        <p:spPr>
          <a:xfrm>
            <a:off x="548640" y="5760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2C8CD"/>
                </a:solidFill>
              </a:rPr>
              <a:t>Prepared from authorized regional team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2C8CD"/>
                </a:solidFill>
              </a:rPr>
              <a:t>Generated 16/10/2026, 11:24:14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560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98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7315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4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32520" y="320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Lagos  |  Cutoff 10 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6510528"/>
            <a:ext cx="11411712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6583680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spc="35" kern="0" dirty="0">
                <a:solidFill>
                  <a:srgbClr val="B4232C"/>
                </a:solidFill>
              </a:rPr>
              <a:t>SYNTHETIC DEMONSTRATION DATA — NOT ACTUAL COMPANY FINANCIAL PERFORMANCE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0" y="6583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Generated 16/10/2026, 11:24:14  |  2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71600"/>
          <a:ext cx="11411712" cy="1755648"/>
        </p:xfrm>
        <a:graphic>
          <a:graphicData uri="http://schemas.openxmlformats.org/drawingml/2006/table">
            <a:tbl>
              <a:tblPr/>
              <a:tblGrid>
                <a:gridCol w="2286000"/>
                <a:gridCol w="2240280"/>
                <a:gridCol w="2240280"/>
                <a:gridCol w="2240280"/>
                <a:gridCol w="24048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Name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New Target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Balance Sheet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Gap to Meet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Run Rate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Lagos RO 01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1.20bn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1.98bn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781.53m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390.77m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Lagos RO 02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1.20bn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1.81bn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613.32m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306.66m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 Total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2.40bn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3.79bn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1.39bn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697.43m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84048" y="1371600"/>
            <a:ext cx="11411712" cy="42062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" y="1472184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Name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752344" y="1472184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New Target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992624" y="1472184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Balance Sheet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232904" y="1472184"/>
            <a:ext cx="2075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Gap to Meet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9473184" y="1472184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Run Rate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84048" y="601675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67085"/>
                </a:solidFill>
              </a:rPr>
              <a:t>Signed values are retained: a negative gap or run rate means the position is above target.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560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98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7315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4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Position vs Target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32520" y="320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Lagos  |  Cutoff 10 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6510528"/>
            <a:ext cx="11411712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6583680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spc="35" kern="0" dirty="0">
                <a:solidFill>
                  <a:srgbClr val="B4232C"/>
                </a:solidFill>
              </a:rPr>
              <a:t>SYNTHETIC DEMONSTRATION DATA — NOT ACTUAL COMPANY FINANCIAL PERFORMANCE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0" y="6583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Generated 16/10/2026, 11:24:14  |  3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84048" y="1325880"/>
            <a:ext cx="3584448" cy="1078992"/>
          </a:xfrm>
          <a:prstGeom prst="roundRect">
            <a:avLst>
              <a:gd name="adj" fmla="val 5085"/>
            </a:avLst>
          </a:prstGeom>
          <a:solidFill>
            <a:srgbClr val="981B2A"/>
          </a:solidFill>
          <a:ln w="12700">
            <a:solidFill>
              <a:srgbClr val="98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17904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DADD"/>
                </a:solidFill>
              </a:rPr>
              <a:t>New Target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17647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NGN 2.4bn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66928" y="2139696"/>
            <a:ext cx="3154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6DADD"/>
                </a:solidFill>
              </a:rPr>
              <a:t>ANNUAL_TARGET_DEMO_MAPPING_PENDING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297680" y="1325880"/>
            <a:ext cx="358444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517904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7085"/>
                </a:solidFill>
              </a:rPr>
              <a:t>Balance Sheet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0" y="17647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42C"/>
                </a:solidFill>
              </a:rPr>
              <a:t>NGN 3.8bn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480560" y="2139696"/>
            <a:ext cx="3154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As of 10 Oct 2026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211312" y="1325880"/>
            <a:ext cx="358444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4192" y="1517904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7085"/>
                </a:solidFill>
              </a:rPr>
              <a:t>Target Achievement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394192" y="176479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0242C"/>
                </a:solidFill>
              </a:rPr>
              <a:t>158.1%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94192" y="2139696"/>
            <a:ext cx="3154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2 full months remaining</a:t>
            </a:r>
            <a:endParaRPr lang="en-US" sz="7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84048" y="2697480"/>
          <a:ext cx="7406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8092440" y="2697480"/>
            <a:ext cx="3703320" cy="3383280"/>
          </a:xfrm>
          <a:prstGeom prst="roundRect">
            <a:avLst>
              <a:gd name="adj" fmla="val 1081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366760" y="2971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7085"/>
                </a:solidFill>
              </a:rPr>
              <a:t>Required run rate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66760" y="33832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981B2A"/>
                </a:solidFill>
              </a:rPr>
              <a:t>-NGN 697.4m</a:t>
            </a:r>
            <a:endParaRPr lang="en-US" sz="2700" dirty="0"/>
          </a:p>
        </p:txBody>
      </p:sp>
      <p:sp>
        <p:nvSpPr>
          <p:cNvPr id="25" name="Text 22"/>
          <p:cNvSpPr/>
          <p:nvPr/>
        </p:nvSpPr>
        <p:spPr>
          <a:xfrm>
            <a:off x="8366760" y="39136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per remaining full month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8366760" y="4617720"/>
            <a:ext cx="310896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42C"/>
                </a:solidFill>
              </a:rPr>
              <a:t>Gap to Meet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0242C"/>
                </a:solidFill>
              </a:rPr>
              <a:t>-NGN 1.4bn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560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98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7315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4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 Profitability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32520" y="320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Lagos  |  Cutoff 10 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6510528"/>
            <a:ext cx="11411712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6583680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spc="35" kern="0" dirty="0">
                <a:solidFill>
                  <a:srgbClr val="B4232C"/>
                </a:solidFill>
              </a:rPr>
              <a:t>SYNTHETIC DEMONSTRATION DATA — NOT ACTUAL COMPANY FINANCIAL PERFORMANCE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0" y="6583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Generated 16/10/2026, 11:24:14  |  4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84048" y="1234440"/>
            <a:ext cx="11411712" cy="502920"/>
          </a:xfrm>
          <a:prstGeom prst="roundRect">
            <a:avLst>
              <a:gd name="adj" fmla="val 5455"/>
            </a:avLst>
          </a:prstGeom>
          <a:solidFill>
            <a:srgbClr val="F8E9EB"/>
          </a:solidFill>
          <a:ln w="12700">
            <a:solidFill>
              <a:srgbClr val="E8D5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408176"/>
            <a:ext cx="10927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81B2A"/>
                </a:solidFill>
              </a:rPr>
              <a:t>Illustrative / unapproved: WHT, OPEX, management margin and final profitability require Finance approval before production use.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993392"/>
          <a:ext cx="114117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00200"/>
                <a:gridCol w="1600200"/>
                <a:gridCol w="1417320"/>
                <a:gridCol w="1554480"/>
                <a:gridCol w="1417320"/>
                <a:gridCol w="181051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Relationship Officer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Interest Income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Interest Expense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Illustrative WHT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Illustrative Margin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Illustrative OPEX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Illustrative Result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Lagos RO 01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110.7m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80.6m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11.1m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19.1m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2.2m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16.9m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Lagos RO 02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99.3m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71.4m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9.9m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17.9m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2.0m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16.0m</a:t>
                      </a:r>
                      <a:endParaRPr lang="en-US" sz="7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0292" marR="50292" marT="50292" marB="50292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84048" y="1993392"/>
            <a:ext cx="11411712" cy="393192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4340" y="2112264"/>
            <a:ext cx="19110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FFFFF"/>
                </a:solidFill>
              </a:rPr>
              <a:t>Relationship Officer</a:t>
            </a:r>
            <a:endParaRPr lang="en-US" sz="680" dirty="0"/>
          </a:p>
        </p:txBody>
      </p:sp>
      <p:sp>
        <p:nvSpPr>
          <p:cNvPr id="14" name="Text 11"/>
          <p:cNvSpPr/>
          <p:nvPr/>
        </p:nvSpPr>
        <p:spPr>
          <a:xfrm>
            <a:off x="2446020" y="2112264"/>
            <a:ext cx="1499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FFFFFF"/>
                </a:solidFill>
              </a:rPr>
              <a:t>Interest Income</a:t>
            </a:r>
            <a:endParaRPr lang="en-US" sz="680" dirty="0"/>
          </a:p>
        </p:txBody>
      </p:sp>
      <p:sp>
        <p:nvSpPr>
          <p:cNvPr id="15" name="Text 12"/>
          <p:cNvSpPr/>
          <p:nvPr/>
        </p:nvSpPr>
        <p:spPr>
          <a:xfrm>
            <a:off x="4046220" y="2112264"/>
            <a:ext cx="14996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FFFFFF"/>
                </a:solidFill>
              </a:rPr>
              <a:t>Interest Expense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5646420" y="2112264"/>
            <a:ext cx="13167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FFFFFF"/>
                </a:solidFill>
              </a:rPr>
              <a:t>Illustrative WHT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7063740" y="2112264"/>
            <a:ext cx="14538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FFFFFF"/>
                </a:solidFill>
              </a:rPr>
              <a:t>Illustrative Margin</a:t>
            </a:r>
            <a:endParaRPr lang="en-US" sz="680" dirty="0"/>
          </a:p>
        </p:txBody>
      </p:sp>
      <p:sp>
        <p:nvSpPr>
          <p:cNvPr id="18" name="Text 15"/>
          <p:cNvSpPr/>
          <p:nvPr/>
        </p:nvSpPr>
        <p:spPr>
          <a:xfrm>
            <a:off x="8618220" y="2112264"/>
            <a:ext cx="13167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FFFFFF"/>
                </a:solidFill>
              </a:rPr>
              <a:t>Illustrative OPEX</a:t>
            </a:r>
            <a:endParaRPr lang="en-US" sz="680" dirty="0"/>
          </a:p>
        </p:txBody>
      </p:sp>
      <p:sp>
        <p:nvSpPr>
          <p:cNvPr id="19" name="Text 16"/>
          <p:cNvSpPr/>
          <p:nvPr/>
        </p:nvSpPr>
        <p:spPr>
          <a:xfrm>
            <a:off x="10035540" y="2112264"/>
            <a:ext cx="1709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FFFFFF"/>
                </a:solidFill>
              </a:rPr>
              <a:t>Illustrative Result</a:t>
            </a:r>
            <a:endParaRPr lang="en-US" sz="68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384048" y="3703320"/>
          <a:ext cx="1141171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560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98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7315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4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YTD Account Opening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32520" y="320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Lagos  |  Cutoff 10 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6510528"/>
            <a:ext cx="11411712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6583680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spc="35" kern="0" dirty="0">
                <a:solidFill>
                  <a:srgbClr val="B4232C"/>
                </a:solidFill>
              </a:rPr>
              <a:t>SYNTHETIC DEMONSTRATION DATA — NOT ACTUAL COMPANY FINANCIAL PERFORMANCE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0" y="6583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Generated 16/10/2026, 11:24:14  |  5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417320" y="1920240"/>
            <a:ext cx="9372600" cy="2834640"/>
          </a:xfrm>
          <a:prstGeom prst="roundRect">
            <a:avLst>
              <a:gd name="adj" fmla="val 1935"/>
            </a:avLst>
          </a:prstGeom>
          <a:solidFill>
            <a:srgbClr val="F7F8FA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2450592"/>
            <a:ext cx="8458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40" kern="0" dirty="0">
                <a:solidFill>
                  <a:srgbClr val="981B2A"/>
                </a:solidFill>
              </a:rPr>
              <a:t>DATA UNAVAILABLE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57400" y="3063240"/>
            <a:ext cx="80924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20242C"/>
                </a:solidFill>
              </a:rPr>
              <a:t>No approved account-opening dataset is connected. Current and previous YTD figures are unavailable and were not fabricated.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560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98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7315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4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 Position 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32520" y="320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Lagos  |  Cutoff 10 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6510528"/>
            <a:ext cx="11411712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6583680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spc="35" kern="0" dirty="0">
                <a:solidFill>
                  <a:srgbClr val="B4232C"/>
                </a:solidFill>
              </a:rPr>
              <a:t>SYNTHETIC DEMONSTRATION DATA — NOT ACTUAL COMPANY FINANCIAL PERFORMANCE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0" y="6583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Generated 16/10/2026, 11:24:14  |  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53312"/>
          <a:ext cx="114117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1874520"/>
                <a:gridCol w="1417320"/>
                <a:gridCol w="1874520"/>
                <a:gridCol w="22219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Relationship Officer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Position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Achievement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Signed Gap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Monthly Run Rate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Lagos RO 01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1.2bn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2.0bn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165.1%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781.5m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390.8m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Lagos RO 02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1.2bn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NGN 1.8bn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151.1%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613.3m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0242C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-NGN 306.7m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64008" marR="64008" marT="64008" marB="64008">
                    <a:lnL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84048" y="1353312"/>
            <a:ext cx="11411712" cy="42062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" y="1481328"/>
            <a:ext cx="2020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Relationship Officer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596896" y="1481328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Target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4471416" y="1481328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Position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6345936" y="1481328"/>
            <a:ext cx="1289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Achievement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7763256" y="1481328"/>
            <a:ext cx="1746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Signed Gap</a:t>
            </a:r>
            <a:endParaRPr lang="en-US" sz="780" dirty="0"/>
          </a:p>
        </p:txBody>
      </p:sp>
      <p:sp>
        <p:nvSpPr>
          <p:cNvPr id="16" name="Text 13"/>
          <p:cNvSpPr/>
          <p:nvPr/>
        </p:nvSpPr>
        <p:spPr>
          <a:xfrm>
            <a:off x="9637776" y="1481328"/>
            <a:ext cx="2093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FFFFFF"/>
                </a:solidFill>
              </a:rPr>
              <a:t>Monthly Run Rate</a:t>
            </a:r>
            <a:endParaRPr lang="en-US" sz="78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84048" y="3246120"/>
          <a:ext cx="11411712" cy="24871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4"/>
          <p:cNvSpPr/>
          <p:nvPr/>
        </p:nvSpPr>
        <p:spPr>
          <a:xfrm>
            <a:off x="384048" y="5989320"/>
            <a:ext cx="10698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67085"/>
                </a:solidFill>
              </a:rPr>
              <a:t>The Balance Sheet is the position snapshot for the report cutoff. Targets and positions retain their source labels in the methodology slide.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560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98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7315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4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Position and Monthly Inflow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32520" y="320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Lagos  |  Cutoff 10 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6510528"/>
            <a:ext cx="11411712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6583680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spc="35" kern="0" dirty="0">
                <a:solidFill>
                  <a:srgbClr val="B4232C"/>
                </a:solidFill>
              </a:rPr>
              <a:t>SYNTHETIC DEMONSTRATION DATA — NOT ACTUAL COMPANY FINANCIAL PERFORMANCE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0" y="6583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Generated 16/10/2026, 11:24:14  |  7</a:t>
            </a:r>
            <a:endParaRPr lang="en-US" sz="7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84048" y="1325880"/>
          <a:ext cx="53949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Chart 1" descr=""/>
          <p:cNvGraphicFramePr/>
          <p:nvPr/>
        </p:nvGraphicFramePr>
        <p:xfrm>
          <a:off x="6080760" y="1481328"/>
          <a:ext cx="5715000" cy="4224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621792" y="590702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42C"/>
                </a:solidFill>
              </a:rPr>
              <a:t>Total position: NGN 3.8bn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172200" y="5907024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7085"/>
                </a:solidFill>
              </a:rPr>
              <a:t>Monthly inflows are presented as reported; source spikes were not smoothed or altered.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81B2A"/>
          </a:solidFill>
          <a:ln w="12700">
            <a:solidFill>
              <a:srgbClr val="981B2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2560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981B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 DEMO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7315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4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and Data Sources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732520" y="32004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Lagos  |  Cutoff 10 Oct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" y="6510528"/>
            <a:ext cx="11411712" cy="0"/>
          </a:xfrm>
          <a:prstGeom prst="line">
            <a:avLst/>
          </a:prstGeom>
          <a:noFill/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6583680"/>
            <a:ext cx="6035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spc="35" kern="0" dirty="0">
                <a:solidFill>
                  <a:srgbClr val="B4232C"/>
                </a:solidFill>
              </a:rPr>
              <a:t>SYNTHETIC DEMONSTRATION DATA — NOT ACTUAL COMPANY FINANCIAL PERFORMANCE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0" y="6583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Generated 16/10/2026, 11:24:14  |  8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81B2A"/>
                </a:solidFill>
              </a:rPr>
              <a:t>Data sources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" y="1755648"/>
            <a:ext cx="5440680" cy="1874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Financial event source 96b564f102c9</a:t>
            </a:r>
            <a:endParaRPr lang="en-US" sz="10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Product mapping demo-v1</a:t>
            </a:r>
            <a:endParaRPr lang="en-US" sz="10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SYNTHETIC_DEMO_TARGET_CONFIGURATION</a:t>
            </a:r>
            <a:endParaRPr lang="en-US" sz="10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SYNTHETIC_DEMO_POSITION_VIEW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36208" y="1325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81B2A"/>
                </a:solidFill>
              </a:rPr>
              <a:t>Definitions and conventions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36208" y="1755648"/>
            <a:ext cx="5394960" cy="2377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Gap to Meet = New Target - Balance Sheet. The signed value is preserved.</a:t>
            </a:r>
            <a:endParaRPr lang="en-US" sz="10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Run Rate = Gap to Meet / remaining full months after the reporting month.</a:t>
            </a:r>
            <a:endParaRPr lang="en-US" sz="10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October 2026 is partial; the convention excludes October and counts November through December.</a:t>
            </a:r>
            <a:endParaRPr lang="en-US" sz="10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20242C"/>
                </a:solidFill>
              </a:rPr>
              <a:t>• Illustrative WHT, OPEX, management margin and final profitability remain subject to Finance approval.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4279392"/>
            <a:ext cx="11411712" cy="1261872"/>
          </a:xfrm>
          <a:prstGeom prst="roundRect">
            <a:avLst>
              <a:gd name="adj" fmla="val 2899"/>
            </a:avLst>
          </a:prstGeom>
          <a:solidFill>
            <a:srgbClr val="F8E9EB"/>
          </a:solidFill>
          <a:ln w="12700">
            <a:solidFill>
              <a:srgbClr val="E8D5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445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81B2A"/>
                </a:solidFill>
              </a:rPr>
              <a:t>Production dependency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788920" y="4480560"/>
            <a:ext cx="866851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0242C"/>
                </a:solidFill>
              </a:rPr>
              <a:t>Odoo target and Symplus position data are supported through controlled CSV imports. Live API integration, account-opening data, and Finance-approved WHT/OPEX/profitability policies are not yet connected.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MIS Demonstration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Lagos Monthly Performance Review</dc:title>
  <dc:subject>Monthly Performance Review for Lagos</dc:subject>
  <dc:creator>MIS Demonstration</dc:creator>
  <cp:lastModifiedBy>MIS Demonstration</cp:lastModifiedBy>
  <cp:revision>1</cp:revision>
  <dcterms:created xsi:type="dcterms:W3CDTF">2026-10-16T10:24:14Z</dcterms:created>
  <dcterms:modified xsi:type="dcterms:W3CDTF">2026-10-16T10:24:14Z</dcterms:modified>
</cp:coreProperties>
</file>